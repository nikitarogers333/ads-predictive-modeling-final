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0262E"/>
                </a:solidFill>
              </a:defRPr>
            </a:pPr>
            <a:r>
              <a:t>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F7D8C"/>
                </a:solidFill>
              </a:defRPr>
            </a:pPr>
            <a:r>
              <a:t>Predicting High Quality Wine From Physicochemical Measurements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544068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20262E"/>
                </a:solidFill>
              </a:defRPr>
            </a:pPr>
            <a:r>
              <a:t>Predict whether red wine will receive a high sensory quality score.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Frame quality score 7 or higher as High.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Use chemistry measurements to support early screening decisions.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Model is decision support, not replacement for expert tasting.</a:t>
            </a:r>
          </a:p>
        </p:txBody>
      </p:sp>
      <p:pic>
        <p:nvPicPr>
          <p:cNvPr id="5" name="Picture 4" descr="qualit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417320"/>
            <a:ext cx="507492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0262E"/>
                </a:solidFill>
              </a:defRPr>
            </a:pPr>
            <a:r>
              <a:t>Business 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F7D8C"/>
                </a:solidFill>
              </a:defRPr>
            </a:pPr>
            <a:r>
              <a:t>Predicting High Quality Wine From Physicochemical Measurements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544068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20262E"/>
                </a:solidFill>
              </a:defRPr>
            </a:pPr>
            <a:r>
              <a:t>Tasting panels are valuable but limited.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Lab measurements are faster and cheaper to collect.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A model can rank wines before extra review.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Goal is prioritization, not automatic approval.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0262E"/>
                </a:solidFill>
              </a:defRPr>
            </a:pPr>
            <a:r>
              <a:t>Dataset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F7D8C"/>
                </a:solidFill>
              </a:defRPr>
            </a:pPr>
            <a:r>
              <a:t>Predicting High Quality Wine From Physicochemical Measurements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544068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20262E"/>
                </a:solidFill>
              </a:defRPr>
            </a:pPr>
            <a:r>
              <a:t>UCI red wine quality dataset with 1,599 observations.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Each row is one wine sample.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Predictors are acidity, sugar, chlorides, sulfur dioxide, density, pH, sulphates, and alcohol.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Original response is sensory quality rating.</a:t>
            </a:r>
          </a:p>
        </p:txBody>
      </p:sp>
      <p:pic>
        <p:nvPicPr>
          <p:cNvPr id="5" name="Picture 4" descr="predictor_boxplo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417320"/>
            <a:ext cx="507492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0262E"/>
                </a:solidFill>
              </a:defRPr>
            </a:pPr>
            <a:r>
              <a:t>Target And Class Balance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F7D8C"/>
                </a:solidFill>
              </a:defRPr>
            </a:pPr>
            <a:r>
              <a:t>Predicting High Quality Wine From Physicochemical Measurements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544068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20262E"/>
                </a:solidFill>
              </a:defRPr>
            </a:pPr>
            <a:r>
              <a:t>Binary target: High versus NotHigh.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High quality class is 13.6% of rows.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Accuracy alone can be misleading.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Evaluation must include sensitivity, precision, F1, and AUC.</a:t>
            </a:r>
          </a:p>
        </p:txBody>
      </p:sp>
      <p:pic>
        <p:nvPicPr>
          <p:cNvPr id="5" name="Picture 4" descr="qualit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417320"/>
            <a:ext cx="507492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0262E"/>
                </a:solidFill>
              </a:defRPr>
            </a:pPr>
            <a:r>
              <a:t>EDA Findings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F7D8C"/>
                </a:solidFill>
              </a:defRPr>
            </a:pPr>
            <a:r>
              <a:t>Predicting High Quality Wine From Physicochemical Measurements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544068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20262E"/>
                </a:solidFill>
              </a:defRPr>
            </a:pPr>
            <a:r>
              <a:t>High quality wines tend to show higher alcohol and sulphates.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They tend to show lower volatile acidity and lower density.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Predictor overlap means perfect classification is unrealistic.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Correlated predictors support comparing several model types.</a:t>
            </a:r>
          </a:p>
        </p:txBody>
      </p:sp>
      <p:pic>
        <p:nvPicPr>
          <p:cNvPr id="5" name="Picture 4" descr="correlatio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417320"/>
            <a:ext cx="507492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0262E"/>
                </a:solidFill>
              </a:defRPr>
            </a:pPr>
            <a:r>
              <a:t>Preprocessing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F7D8C"/>
                </a:solidFill>
              </a:defRPr>
            </a:pPr>
            <a:r>
              <a:t>Predicting High Quality Wine From Physicochemical Measurements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544068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20262E"/>
                </a:solidFill>
              </a:defRPr>
            </a:pPr>
            <a:r>
              <a:t>Converted original quality rating into a binary target.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Removed original quality score from model inputs to avoid leakage.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Checked missing values: none in the downloaded file.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Standardized numeric predictors for logistic regression.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0262E"/>
                </a:solidFill>
              </a:defRPr>
            </a:pPr>
            <a:r>
              <a:t>Data Splitting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F7D8C"/>
                </a:solidFill>
              </a:defRPr>
            </a:pPr>
            <a:r>
              <a:t>Predicting High Quality Wine From Physicochemical Measurements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544068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20262E"/>
                </a:solidFill>
              </a:defRPr>
            </a:pPr>
            <a:r>
              <a:t>Used stratified 80/20 train-test split.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Training set used for fitting and tuning.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Test set held out until final evaluation.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Stratification preserved minority-class share.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0262E"/>
                </a:solidFill>
              </a:defRPr>
            </a:pPr>
            <a:r>
              <a:t>Validation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F7D8C"/>
                </a:solidFill>
              </a:defRPr>
            </a:pPr>
            <a:r>
              <a:t>Predicting High Quality Wine From Physicochemical Measurements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544068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20262E"/>
                </a:solidFill>
              </a:defRPr>
            </a:pPr>
            <a:r>
              <a:t>Used stratified 5-fold cross-validation.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Tuned decision tree complexity.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Tuned random forest mtry.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Selected probability thresholds from validation predictions.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0262E"/>
                </a:solidFill>
              </a:defRPr>
            </a:pPr>
            <a:r>
              <a:t>Model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F7D8C"/>
                </a:solidFill>
              </a:defRPr>
            </a:pPr>
            <a:r>
              <a:t>Predicting High Quality Wine From Physicochemical Measurements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544068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20262E"/>
                </a:solidFill>
              </a:defRPr>
            </a:pPr>
            <a:r>
              <a:t>Logistic regression created a transparent baseline.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Decision tree tested simple non-linear rules.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Random forest tested stronger non-linear performance.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Final choice balances ranking quality and high-class detection.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0262E"/>
                </a:solidFill>
              </a:defRPr>
            </a:pPr>
            <a:r>
              <a:t>Metrics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F7D8C"/>
                </a:solidFill>
              </a:defRPr>
            </a:pPr>
            <a:r>
              <a:t>Predicting High Quality Wine From Physicochemical Measurements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544068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20262E"/>
                </a:solidFill>
              </a:defRPr>
            </a:pPr>
            <a:r>
              <a:t>ROC AUC measures ranking quality across thresholds.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Sensitivity measures how many high quality wines are found.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Precision measures how many predicted high wines are truly high.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F1 balances sensitivity and precision.</a:t>
            </a:r>
          </a:p>
        </p:txBody>
      </p:sp>
      <p:pic>
        <p:nvPicPr>
          <p:cNvPr id="5" name="Picture 4" descr="roc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417320"/>
            <a:ext cx="507492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0262E"/>
                </a:solidFill>
              </a:defRPr>
            </a:pPr>
            <a:r>
              <a:t>Final Test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F7D8C"/>
                </a:solidFill>
              </a:defRPr>
            </a:pPr>
            <a:r>
              <a:t>Predicting High Quality Wine From Physicochemical Measurements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544068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20262E"/>
                </a:solidFill>
              </a:defRPr>
            </a:pPr>
            <a:r>
              <a:t>Selected model: Random forest.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ROC AUC: 0.927.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F1 score: 0.673.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Accuracy: 0.894.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Sensitivity: 0.795; specificity: 0.910.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5303520"/>
            <a:ext cx="2011680" cy="731520"/>
          </a:xfrm>
          <a:prstGeom prst="roundRect">
            <a:avLst/>
          </a:prstGeom>
          <a:solidFill>
            <a:srgbClr val="F7F5F0"/>
          </a:solidFill>
          <a:ln>
            <a:solidFill>
              <a:srgbClr val="DED9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20262E"/>
                </a:solidFill>
              </a:defRPr>
            </a:pPr>
            <a:r>
              <a:t>AUC</a:t>
            </a:r>
            <a:br/>
            <a:r>
              <a:t>0.927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34640" y="5303520"/>
            <a:ext cx="2011680" cy="731520"/>
          </a:xfrm>
          <a:prstGeom prst="roundRect">
            <a:avLst/>
          </a:prstGeom>
          <a:solidFill>
            <a:srgbClr val="F7F5F0"/>
          </a:solidFill>
          <a:ln>
            <a:solidFill>
              <a:srgbClr val="DED9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20262E"/>
                </a:solidFill>
              </a:defRPr>
            </a:pPr>
            <a:r>
              <a:t>F1</a:t>
            </a:r>
            <a:br/>
            <a:r>
              <a:t>0.673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83480" y="5303520"/>
            <a:ext cx="2011680" cy="731520"/>
          </a:xfrm>
          <a:prstGeom prst="roundRect">
            <a:avLst/>
          </a:prstGeom>
          <a:solidFill>
            <a:srgbClr val="F7F5F0"/>
          </a:solidFill>
          <a:ln>
            <a:solidFill>
              <a:srgbClr val="DED9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20262E"/>
                </a:solidFill>
              </a:defRPr>
            </a:pPr>
            <a:r>
              <a:t>Accuracy</a:t>
            </a:r>
            <a:br/>
            <a:r>
              <a:t>0.894</a:t>
            </a:r>
          </a:p>
        </p:txBody>
      </p:sp>
      <p:pic>
        <p:nvPicPr>
          <p:cNvPr id="8" name="Picture 7" descr="roc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417320"/>
            <a:ext cx="507492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0262E"/>
                </a:solidFill>
              </a:defRPr>
            </a:pPr>
            <a:r>
              <a:t>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F7D8C"/>
                </a:solidFill>
              </a:defRPr>
            </a:pPr>
            <a:r>
              <a:t>Predicting High Quality Wine From Physicochemical Measurements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544068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20262E"/>
                </a:solidFill>
              </a:defRPr>
            </a:pPr>
            <a:r>
              <a:t>Top predictors in random forest: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alcohol, volatile acidity, sulphates, density, citric acid.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These variables help rank wines by probability of high quality.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Variable importance is predictive, not causal.</a:t>
            </a:r>
          </a:p>
        </p:txBody>
      </p:sp>
      <p:pic>
        <p:nvPicPr>
          <p:cNvPr id="5" name="Picture 4" descr="variabl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417320"/>
            <a:ext cx="507492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0262E"/>
                </a:solidFill>
              </a:defRPr>
            </a:pPr>
            <a:r>
              <a:t>Limitations And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F7D8C"/>
                </a:solidFill>
              </a:defRPr>
            </a:pPr>
            <a:r>
              <a:t>Predicting High Quality Wine From Physicochemical Measurements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544068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20262E"/>
                </a:solidFill>
              </a:defRPr>
            </a:pPr>
            <a:r>
              <a:t>Dataset covers one wine type and region.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Missing business variables: brand, price, vintage, producer, market.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Need external validation before operational use.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Next step: calibrate probabilities and test on newer data.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0262E"/>
                </a:solidFill>
              </a:defRPr>
            </a:pPr>
            <a: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F7D8C"/>
                </a:solidFill>
              </a:defRPr>
            </a:pPr>
            <a:r>
              <a:t>Predicting High Quality Wine From Physicochemical Measurements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544068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20262E"/>
                </a:solidFill>
              </a:defRPr>
            </a:pPr>
            <a:r>
              <a:t>Chemistry data can identify useful signal for quality screening.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Use output as ranked shortlist, not final judgment.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Best use is prioritizing additional review.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AI assistance is disclosed in the report and repository.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