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62E"/>
                </a:solidFill>
              </a:defRPr>
            </a:pPr>
            <a:r>
              <a:t>Problem And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F7D8C"/>
                </a:solidFill>
              </a:defRPr>
            </a:pPr>
            <a:r>
              <a:t>Predicting Online Purchase Conversion From Session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4406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0262E"/>
                </a:solidFill>
              </a:defRPr>
            </a:pPr>
            <a:r>
              <a:t>Goal: predict whether an online shopping session will generate revenue.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Dataset: UCI online shoppers data with 12,330 sessions.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Purchases are the minority class: 15.5% of rows.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Business use: rank sessions for targeted marketing or on-site intervention.</a:t>
            </a:r>
          </a:p>
        </p:txBody>
      </p:sp>
      <p:pic>
        <p:nvPicPr>
          <p:cNvPr id="5" name="Picture 4" descr="purchas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417320"/>
            <a:ext cx="50749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62E"/>
                </a:solidFill>
              </a:defRPr>
            </a:pPr>
            <a:r>
              <a:t>Modeling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F7D8C"/>
                </a:solidFill>
              </a:defRPr>
            </a:pPr>
            <a:r>
              <a:t>Predicting Online Purchase Conversion From Session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4406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0262E"/>
                </a:solidFill>
              </a:defRPr>
            </a:pPr>
            <a:r>
              <a:t>Created binary target from the Revenue field.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Used stratified training and test split to preserve class balance.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Compared logistic regression, decision tree, and random forest.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Used cross-validation for tuning and threshold selection.</a:t>
            </a:r>
          </a:p>
        </p:txBody>
      </p:sp>
      <p:pic>
        <p:nvPicPr>
          <p:cNvPr id="5" name="Picture 4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417320"/>
            <a:ext cx="50749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62E"/>
                </a:solidFill>
              </a:defRPr>
            </a:pPr>
            <a:r>
              <a:t>Final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F7D8C"/>
                </a:solidFill>
              </a:defRPr>
            </a:pPr>
            <a:r>
              <a:t>Predicting Online Purchase Conversion From Session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4406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0262E"/>
                </a:solidFill>
              </a:defRPr>
            </a:pPr>
            <a:r>
              <a:t>Selected model: Random forest.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Test ROC AUC: 0.935.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Test F1 score: 0.716.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Threshold selected to balance precision and sensitivity for purchase sessions.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5303520"/>
            <a:ext cx="2011680" cy="731520"/>
          </a:xfrm>
          <a:prstGeom prst="roundRect">
            <a:avLst/>
          </a:prstGeom>
          <a:solidFill>
            <a:srgbClr val="F7F5F0"/>
          </a:solidFill>
          <a:ln>
            <a:solidFill>
              <a:srgbClr val="DE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0262E"/>
                </a:solidFill>
              </a:defRPr>
            </a:pPr>
            <a:r>
              <a:t>AUC</a:t>
            </a:r>
            <a:br/>
            <a:r>
              <a:t>0.935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5303520"/>
            <a:ext cx="2011680" cy="731520"/>
          </a:xfrm>
          <a:prstGeom prst="roundRect">
            <a:avLst/>
          </a:prstGeom>
          <a:solidFill>
            <a:srgbClr val="F7F5F0"/>
          </a:solidFill>
          <a:ln>
            <a:solidFill>
              <a:srgbClr val="DE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0262E"/>
                </a:solidFill>
              </a:defRPr>
            </a:pPr>
            <a:r>
              <a:t>F1</a:t>
            </a:r>
            <a:br/>
            <a:r>
              <a:t>0.716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83480" y="5303520"/>
            <a:ext cx="2011680" cy="731520"/>
          </a:xfrm>
          <a:prstGeom prst="roundRect">
            <a:avLst/>
          </a:prstGeom>
          <a:solidFill>
            <a:srgbClr val="F7F5F0"/>
          </a:solidFill>
          <a:ln>
            <a:solidFill>
              <a:srgbClr val="DED9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0262E"/>
                </a:solidFill>
              </a:defRPr>
            </a:pPr>
            <a:r>
              <a:t>Accuracy</a:t>
            </a:r>
            <a:br/>
            <a:r>
              <a:t>0.909</a:t>
            </a:r>
          </a:p>
        </p:txBody>
      </p:sp>
      <p:pic>
        <p:nvPicPr>
          <p:cNvPr id="8" name="Picture 7" descr="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417320"/>
            <a:ext cx="50749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62E"/>
                </a:solidFill>
              </a:defRPr>
            </a:pPr>
            <a:r>
              <a:t>Key Drivers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F7D8C"/>
                </a:solidFill>
              </a:defRPr>
            </a:pPr>
            <a:r>
              <a:t>Predicting Online Purchase Conversion From Session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4406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0262E"/>
                </a:solidFill>
              </a:defRPr>
            </a:pPr>
            <a:r>
              <a:t>Most important predictors in the tree ensemble: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PageValues, ExitRates, ProductRelated_Duration, Month, ProductRelated.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These are predictive signals, not proof of causation.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Model scores should be used as a prioritization layer.</a:t>
            </a:r>
          </a:p>
        </p:txBody>
      </p:sp>
      <p:pic>
        <p:nvPicPr>
          <p:cNvPr id="5" name="Picture 4" descr="variabl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417320"/>
            <a:ext cx="50749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0262E"/>
                </a:solidFill>
              </a:defRPr>
            </a:pPr>
            <a: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F7D8C"/>
                </a:solidFill>
              </a:defRPr>
            </a:pPr>
            <a:r>
              <a:t>Predicting Online Purchase Conversion From Session Behavior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544068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0262E"/>
                </a:solidFill>
              </a:defRPr>
            </a:pPr>
            <a:r>
              <a:t>Use model scores to rank sessions for controlled marketing experiments.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Do not assume an intervention creates incremental revenue without A/B testing.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Improve with product, customer, pricing, margin, and campaign data.</a:t>
            </a:r>
          </a:p>
          <a:p>
            <a:pPr>
              <a:defRPr sz="1700">
                <a:solidFill>
                  <a:srgbClr val="20262E"/>
                </a:solidFill>
              </a:defRPr>
            </a:pPr>
            <a:r>
              <a:t>AI assistance is disclosed in the report and repository.</a:t>
            </a:r>
          </a:p>
        </p:txBody>
      </p:sp>
      <p:pic>
        <p:nvPicPr>
          <p:cNvPr id="5" name="Picture 4" descr="session_behavior_box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417320"/>
            <a:ext cx="5074920" cy="42062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